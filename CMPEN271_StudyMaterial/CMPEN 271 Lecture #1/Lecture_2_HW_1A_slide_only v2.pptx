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</inkml:traceFormat>
        <inkml:channelProperties>
          <inkml:channelProperty channel="X" name="resolution" value="28.36879" units="1/cm"/>
          <inkml:channelProperty channel="Y" name="resolution" value="28.30189" units="1/cm"/>
        </inkml:channelProperties>
      </inkml:inkSource>
      <inkml:timestamp xml:id="ts0" timeString="2014-06-21T02:09:03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20172 12848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886D52-B48C-4887-BC90-344A75D41EE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393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E9550B-ABB7-47AA-BAD9-B9B1B229287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81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B06DF9-A9E0-479A-8436-D35EFA630B9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795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CAAC41-B0CD-4025-8D4E-267EC043519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01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CAE922-FFD0-4032-AC62-FB126E8B344A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52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72B10F-466A-4C34-A727-9D85F5F09F3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3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0F26D9-2616-4242-A590-540BBEBF91B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59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78E722-E5DB-46B5-A13A-C3FD03F4491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9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119884-B743-42D0-8126-D200C3902F4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29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E92A40-F166-4BDB-85E6-E239F09BCEB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12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5984D0-5A0D-45C1-BF0B-A2769A3FE15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79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(c)  R. Avanzato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A42965D-5BEE-445E-9209-8A7ADAC4B12A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13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923880" y="6299470"/>
            <a:ext cx="2895600" cy="457200"/>
          </a:xfrm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</a:rPr>
              <a:t>(c)  R. </a:t>
            </a:r>
            <a:r>
              <a:rPr lang="en-US" altLang="en-US" sz="1400" dirty="0" err="1">
                <a:solidFill>
                  <a:srgbClr val="000000"/>
                </a:solidFill>
              </a:rPr>
              <a:t>Avanzato</a:t>
            </a:r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606E2B41-0173-4D34-9882-A4FD652D929A}" type="slidenum">
              <a:rPr lang="en-US" altLang="en-US" sz="1400" smtClean="0">
                <a:solidFill>
                  <a:srgbClr val="000000"/>
                </a:solidFill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2013" y="1"/>
            <a:ext cx="8107362" cy="527655"/>
          </a:xfrm>
          <a:solidFill>
            <a:schemeClr val="hlink"/>
          </a:solidFill>
        </p:spPr>
        <p:txBody>
          <a:bodyPr/>
          <a:lstStyle/>
          <a:p>
            <a:r>
              <a:rPr lang="en-US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HW#1A: Digitize an Analog Signal</a:t>
            </a:r>
            <a:endParaRPr lang="en-US" altLang="en-US" sz="32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8437" name="Text Box 18"/>
          <p:cNvSpPr txBox="1">
            <a:spLocks noChangeArrowheads="1"/>
          </p:cNvSpPr>
          <p:nvPr/>
        </p:nvSpPr>
        <p:spPr bwMode="auto">
          <a:xfrm>
            <a:off x="1935957" y="595008"/>
            <a:ext cx="833596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</a:rPr>
              <a:t>Let sampling frequency = 10Hz (10 samples per second)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</a:rPr>
              <a:t>Let quantization = 2 bits/sample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</a:rPr>
              <a:t>Digitize signal from t=0 sec to t=1 sec only.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</a:rPr>
              <a:t>Generate a stream of 1’s and 0’s as output.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</a:rPr>
              <a:t>How many total bits will be generated (in one second)?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</a:rPr>
              <a:t>Hint: Draw a grid (use evenly–spaced vertical lines  and horizontal lines).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</a:rPr>
              <a:t>Hint: See previous slide “How is a CD Created?” for an example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8438" name="Line 3"/>
          <p:cNvSpPr>
            <a:spLocks noChangeShapeType="1"/>
          </p:cNvSpPr>
          <p:nvPr/>
        </p:nvSpPr>
        <p:spPr bwMode="auto">
          <a:xfrm flipH="1">
            <a:off x="2919412" y="3017839"/>
            <a:ext cx="19051" cy="330358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8439" name="Line 4"/>
          <p:cNvSpPr>
            <a:spLocks noChangeShapeType="1"/>
          </p:cNvSpPr>
          <p:nvPr/>
        </p:nvSpPr>
        <p:spPr bwMode="auto">
          <a:xfrm>
            <a:off x="2921000" y="6323013"/>
            <a:ext cx="558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8440" name="Text Box 5"/>
          <p:cNvSpPr txBox="1">
            <a:spLocks noChangeArrowheads="1"/>
          </p:cNvSpPr>
          <p:nvPr/>
        </p:nvSpPr>
        <p:spPr bwMode="auto">
          <a:xfrm>
            <a:off x="3148029" y="2817784"/>
            <a:ext cx="3706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V</a:t>
            </a:r>
          </a:p>
        </p:txBody>
      </p:sp>
      <p:sp>
        <p:nvSpPr>
          <p:cNvPr id="18441" name="Text Box 6"/>
          <p:cNvSpPr txBox="1">
            <a:spLocks noChangeArrowheads="1"/>
          </p:cNvSpPr>
          <p:nvPr/>
        </p:nvSpPr>
        <p:spPr bwMode="auto">
          <a:xfrm>
            <a:off x="8512644" y="60928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18442" name="Line 9"/>
          <p:cNvSpPr>
            <a:spLocks noChangeShapeType="1"/>
          </p:cNvSpPr>
          <p:nvPr/>
        </p:nvSpPr>
        <p:spPr bwMode="auto">
          <a:xfrm flipH="1">
            <a:off x="3411538" y="6321426"/>
            <a:ext cx="4762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8443" name="Line 15"/>
          <p:cNvSpPr>
            <a:spLocks noChangeShapeType="1"/>
          </p:cNvSpPr>
          <p:nvPr/>
        </p:nvSpPr>
        <p:spPr bwMode="auto">
          <a:xfrm>
            <a:off x="8078210" y="6169026"/>
            <a:ext cx="0" cy="35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8444" name="Text Box 16"/>
          <p:cNvSpPr txBox="1">
            <a:spLocks noChangeArrowheads="1"/>
          </p:cNvSpPr>
          <p:nvPr/>
        </p:nvSpPr>
        <p:spPr bwMode="auto">
          <a:xfrm>
            <a:off x="7726993" y="6457021"/>
            <a:ext cx="7772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 dirty="0" smtClean="0">
                <a:solidFill>
                  <a:srgbClr val="000000"/>
                </a:solidFill>
              </a:rPr>
              <a:t>1.0 </a:t>
            </a:r>
            <a:r>
              <a:rPr lang="en-US" altLang="en-US" sz="1600" dirty="0">
                <a:solidFill>
                  <a:srgbClr val="000000"/>
                </a:solidFill>
              </a:rPr>
              <a:t>sec</a:t>
            </a:r>
          </a:p>
        </p:txBody>
      </p:sp>
      <p:sp>
        <p:nvSpPr>
          <p:cNvPr id="18445" name="Text Box 17"/>
          <p:cNvSpPr txBox="1">
            <a:spLocks noChangeArrowheads="1"/>
          </p:cNvSpPr>
          <p:nvPr/>
        </p:nvSpPr>
        <p:spPr bwMode="auto">
          <a:xfrm>
            <a:off x="3117166" y="6464092"/>
            <a:ext cx="60144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 dirty="0" smtClean="0">
                <a:solidFill>
                  <a:srgbClr val="000000"/>
                </a:solidFill>
              </a:rPr>
              <a:t>0 sec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18446" name="Line 19"/>
          <p:cNvSpPr>
            <a:spLocks noChangeShapeType="1"/>
          </p:cNvSpPr>
          <p:nvPr/>
        </p:nvSpPr>
        <p:spPr bwMode="auto">
          <a:xfrm>
            <a:off x="2806337" y="3600731"/>
            <a:ext cx="300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8447" name="Text Box 20"/>
          <p:cNvSpPr txBox="1">
            <a:spLocks noChangeArrowheads="1"/>
          </p:cNvSpPr>
          <p:nvPr/>
        </p:nvSpPr>
        <p:spPr bwMode="auto">
          <a:xfrm>
            <a:off x="2193924" y="3400706"/>
            <a:ext cx="5048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5v 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07062"/>
              </p:ext>
            </p:extLst>
          </p:nvPr>
        </p:nvGraphicFramePr>
        <p:xfrm>
          <a:off x="3435350" y="3615531"/>
          <a:ext cx="4652960" cy="269593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2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701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264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449323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323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323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323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323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323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618" name="Freeform 7"/>
          <p:cNvSpPr>
            <a:spLocks/>
          </p:cNvSpPr>
          <p:nvPr/>
        </p:nvSpPr>
        <p:spPr bwMode="auto">
          <a:xfrm>
            <a:off x="3435350" y="4270376"/>
            <a:ext cx="4592638" cy="1446213"/>
          </a:xfrm>
          <a:custGeom>
            <a:avLst/>
            <a:gdLst>
              <a:gd name="T0" fmla="*/ 0 w 1233"/>
              <a:gd name="T1" fmla="*/ 2147483647 h 676"/>
              <a:gd name="T2" fmla="*/ 2147483647 w 1233"/>
              <a:gd name="T3" fmla="*/ 2147483647 h 676"/>
              <a:gd name="T4" fmla="*/ 2147483647 w 1233"/>
              <a:gd name="T5" fmla="*/ 2147483647 h 676"/>
              <a:gd name="T6" fmla="*/ 2147483647 w 1233"/>
              <a:gd name="T7" fmla="*/ 2147483647 h 676"/>
              <a:gd name="T8" fmla="*/ 2147483647 w 1233"/>
              <a:gd name="T9" fmla="*/ 2147483647 h 676"/>
              <a:gd name="T10" fmla="*/ 2147483647 w 1233"/>
              <a:gd name="T11" fmla="*/ 2147483647 h 676"/>
              <a:gd name="T12" fmla="*/ 2147483647 w 1233"/>
              <a:gd name="T13" fmla="*/ 2147483647 h 676"/>
              <a:gd name="T14" fmla="*/ 2147483647 w 1233"/>
              <a:gd name="T15" fmla="*/ 2147483647 h 676"/>
              <a:gd name="T16" fmla="*/ 2147483647 w 1233"/>
              <a:gd name="T17" fmla="*/ 2147483647 h 676"/>
              <a:gd name="T18" fmla="*/ 2147483647 w 1233"/>
              <a:gd name="T19" fmla="*/ 2147483647 h 676"/>
              <a:gd name="T20" fmla="*/ 2147483647 w 1233"/>
              <a:gd name="T21" fmla="*/ 2147483647 h 6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233" h="676">
                <a:moveTo>
                  <a:pt x="0" y="577"/>
                </a:moveTo>
                <a:cubicBezTo>
                  <a:pt x="107" y="314"/>
                  <a:pt x="214" y="52"/>
                  <a:pt x="288" y="26"/>
                </a:cubicBezTo>
                <a:cubicBezTo>
                  <a:pt x="362" y="0"/>
                  <a:pt x="399" y="313"/>
                  <a:pt x="444" y="421"/>
                </a:cubicBezTo>
                <a:cubicBezTo>
                  <a:pt x="489" y="529"/>
                  <a:pt x="522" y="676"/>
                  <a:pt x="559" y="675"/>
                </a:cubicBezTo>
                <a:cubicBezTo>
                  <a:pt x="596" y="674"/>
                  <a:pt x="635" y="490"/>
                  <a:pt x="666" y="412"/>
                </a:cubicBezTo>
                <a:cubicBezTo>
                  <a:pt x="697" y="334"/>
                  <a:pt x="716" y="196"/>
                  <a:pt x="748" y="207"/>
                </a:cubicBezTo>
                <a:cubicBezTo>
                  <a:pt x="780" y="218"/>
                  <a:pt x="821" y="444"/>
                  <a:pt x="855" y="478"/>
                </a:cubicBezTo>
                <a:cubicBezTo>
                  <a:pt x="889" y="512"/>
                  <a:pt x="918" y="468"/>
                  <a:pt x="953" y="412"/>
                </a:cubicBezTo>
                <a:cubicBezTo>
                  <a:pt x="988" y="356"/>
                  <a:pt x="1030" y="131"/>
                  <a:pt x="1068" y="141"/>
                </a:cubicBezTo>
                <a:cubicBezTo>
                  <a:pt x="1106" y="151"/>
                  <a:pt x="1156" y="392"/>
                  <a:pt x="1183" y="470"/>
                </a:cubicBezTo>
                <a:cubicBezTo>
                  <a:pt x="1210" y="548"/>
                  <a:pt x="1225" y="587"/>
                  <a:pt x="1233" y="61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8785920" y="462528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76560" y="461592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2811153" y="6308706"/>
            <a:ext cx="300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198518" y="6099415"/>
            <a:ext cx="5052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0</a:t>
            </a:r>
            <a:r>
              <a:rPr lang="en-US" altLang="en-US" sz="2000" dirty="0" smtClean="0">
                <a:solidFill>
                  <a:srgbClr val="000000"/>
                </a:solidFill>
              </a:rPr>
              <a:t>v 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23880" y="2851797"/>
            <a:ext cx="2895600" cy="267765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You may edit this slide in PPT and save and submit. Add quantization values </a:t>
            </a:r>
            <a:r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vertical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axis and time values on horizontal axis  and show quantization points. (Alternately, you may print out, modify with pen, and scan.)</a:t>
            </a:r>
            <a:b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lowest quantization level should correspond to 0 volts and the highest quantization level should correspond to 5v.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/>
          <p:cNvSpPr/>
          <p:nvPr/>
        </p:nvSpPr>
        <p:spPr bwMode="auto">
          <a:xfrm>
            <a:off x="9337747" y="6000240"/>
            <a:ext cx="129309" cy="129309"/>
          </a:xfrm>
          <a:prstGeom prst="ellips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0007599" y="5881390"/>
            <a:ext cx="2101274" cy="367010"/>
          </a:xfrm>
          <a:prstGeom prst="wedgeRoundRectCallout">
            <a:avLst>
              <a:gd name="adj1" fmla="val -71176"/>
              <a:gd name="adj2" fmla="val -293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You may copy and paste this!</a:t>
            </a:r>
          </a:p>
        </p:txBody>
      </p:sp>
    </p:spTree>
    <p:extLst>
      <p:ext uri="{BB962C8B-B14F-4D97-AF65-F5344CB8AC3E}">
        <p14:creationId xmlns:p14="http://schemas.microsoft.com/office/powerpoint/2010/main" val="255171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HW#1A: Digitize an Analog Signal</vt:lpstr>
    </vt:vector>
  </TitlesOfParts>
  <Company>Penn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HW#1A: Digitize an Analog Signal</dc:title>
  <dc:creator>ROBERT LOUIS AVANZATO</dc:creator>
  <cp:lastModifiedBy>ROBERT LOUIS AVANZATO</cp:lastModifiedBy>
  <cp:revision>6</cp:revision>
  <dcterms:created xsi:type="dcterms:W3CDTF">2015-06-29T02:35:33Z</dcterms:created>
  <dcterms:modified xsi:type="dcterms:W3CDTF">2017-06-24T02:25:04Z</dcterms:modified>
</cp:coreProperties>
</file>